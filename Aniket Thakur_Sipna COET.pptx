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metadata" ContentType="application/binary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8"/>
  </p:notesMasterIdLst>
  <p:sldIdLst>
    <p:sldId id="283" r:id="rId2"/>
    <p:sldId id="257" r:id="rId3"/>
    <p:sldId id="282" r:id="rId4"/>
    <p:sldId id="284" r:id="rId5"/>
    <p:sldId id="260" r:id="rId6"/>
    <p:sldId id="281" r:id="rId7"/>
    <p:sldId id="279" r:id="rId8"/>
    <p:sldId id="262" r:id="rId9"/>
    <p:sldId id="264" r:id="rId10"/>
    <p:sldId id="278" r:id="rId11"/>
    <p:sldId id="273" r:id="rId12"/>
    <p:sldId id="277" r:id="rId13"/>
    <p:sldId id="280" r:id="rId14"/>
    <p:sldId id="286" r:id="rId15"/>
    <p:sldId id="285" r:id="rId16"/>
    <p:sldId id="276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86"/>
  </p:normalViewPr>
  <p:slideViewPr>
    <p:cSldViewPr snapToGrid="0">
      <p:cViewPr varScale="1">
        <p:scale>
          <a:sx n="109" d="100"/>
          <a:sy n="109" d="100"/>
        </p:scale>
        <p:origin x="-594" y="-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xmlns="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xmlns="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xmlns="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xmlns="" id="{97F198B6-46AB-E987-6029-0BC219784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>
            <a:extLst>
              <a:ext uri="{FF2B5EF4-FFF2-40B4-BE49-F238E27FC236}">
                <a16:creationId xmlns:a16="http://schemas.microsoft.com/office/drawing/2014/main" xmlns="" id="{BED6C947-F263-43FE-F2EE-864BF8D619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xmlns="" id="{23D908FB-4881-9B59-4816-0965815F79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8739006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xmlns="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xmlns="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xmlns="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xmlns="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xmlns="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xmlns="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xmlns="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xmlns="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xmlns="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6827365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xmlns="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xmlns="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xmlns="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9651753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xmlns="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xmlns="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xmlns="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6221693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xmlns="" id="{D68B40DC-7D13-D1F3-B3F0-6289AB86E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xmlns="" id="{893092C2-43EB-9927-B5E2-DFFE43A832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xmlns="" id="{00BFB171-709F-E779-E3B3-9DDA4A06E5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23844315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xmlns="" id="{6F382264-E9F3-617D-EB96-57837FB78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xmlns="" id="{25AB4139-E85F-D524-1B0D-01ECFCBE22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xmlns="" id="{3B55CAFC-96D5-A13C-B36C-19E52B3D75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6077519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sop.washington.edu/wp-content/uploads/Chronic_Disease.pdf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inj.org/sites/cinj/files/documents/NutritionandChronicDisease_072612.pdf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067" y="521208"/>
            <a:ext cx="9553829" cy="3108960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/>
              <a:t>FDP on Agentic AI: Foundations, Applications, and Future Directions</a:t>
            </a:r>
            <a:r>
              <a:rPr lang="en-US" b="1" dirty="0"/>
              <a:t/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2978" y="2880074"/>
            <a:ext cx="10515600" cy="1500187"/>
          </a:xfrm>
        </p:spPr>
        <p:txBody>
          <a:bodyPr/>
          <a:lstStyle/>
          <a:p>
            <a:pPr algn="ctr"/>
            <a:r>
              <a:rPr lang="en-US" b="1" i="1" dirty="0"/>
              <a:t>“</a:t>
            </a:r>
            <a:r>
              <a:rPr lang="en-US" b="1" i="1" dirty="0">
                <a:solidFill>
                  <a:schemeClr val="tx1"/>
                </a:solidFill>
              </a:rPr>
              <a:t>Exploring the Power of Agentic AI with IBM Granite and </a:t>
            </a:r>
            <a:r>
              <a:rPr lang="en-US" b="1" i="1" dirty="0" err="1">
                <a:solidFill>
                  <a:schemeClr val="tx1"/>
                </a:solidFill>
              </a:rPr>
              <a:t>LangFlow</a:t>
            </a:r>
            <a:r>
              <a:rPr lang="en-US" b="1" i="1" dirty="0">
                <a:solidFill>
                  <a:schemeClr val="tx1"/>
                </a:solidFill>
              </a:rPr>
              <a:t>”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924776" y="506065"/>
            <a:ext cx="7301728" cy="271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 of the team:  </a:t>
            </a:r>
            <a:r>
              <a:rPr lang="en-US" sz="3500" b="1" i="0" u="none" strike="noStrike" cap="none" dirty="0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SKYMINDS</a:t>
            </a:r>
            <a:r>
              <a:rPr lang="en-US" sz="35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</p:txBody>
      </p:sp>
      <p:sp>
        <p:nvSpPr>
          <p:cNvPr id="95" name="Google Shape;95;p2"/>
          <p:cNvSpPr txBox="1"/>
          <p:nvPr/>
        </p:nvSpPr>
        <p:spPr>
          <a:xfrm>
            <a:off x="96297" y="1170671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lang="en-US" sz="32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Details of Team members</a:t>
            </a:r>
            <a:endParaRPr sz="3200" b="1" i="0" u="none" strike="noStrike" cap="none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xmlns="" val="1205378947"/>
              </p:ext>
            </p:extLst>
          </p:nvPr>
        </p:nvGraphicFramePr>
        <p:xfrm>
          <a:off x="1596852" y="1942026"/>
          <a:ext cx="9193068" cy="3796923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2048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39086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39086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239086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254153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TEAM MEMBER NAME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Recent Passport Photo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Email ID 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Phone number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[WhatsApp] 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25538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 err="1" smtClean="0"/>
                        <a:t>Aniket</a:t>
                      </a:r>
                      <a:r>
                        <a:rPr lang="en-IN" dirty="0" smtClean="0"/>
                        <a:t> </a:t>
                      </a:r>
                      <a:r>
                        <a:rPr lang="en-IN" dirty="0" err="1" smtClean="0"/>
                        <a:t>Thakur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 smtClean="0"/>
                        <a:t>aniket.r.thakur@gmail.com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 smtClean="0"/>
                        <a:t>9021376289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pic>
        <p:nvPicPr>
          <p:cNvPr id="8" name="Picture 7" descr="AR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5235" y="4463144"/>
            <a:ext cx="943792" cy="12583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xmlns="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3">
            <a:extLst>
              <a:ext uri="{FF2B5EF4-FFF2-40B4-BE49-F238E27FC236}">
                <a16:creationId xmlns:a16="http://schemas.microsoft.com/office/drawing/2014/main" xmlns="" id="{286A03B7-10C8-4B3E-AB7E-1BEE35090A2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1580" y="386939"/>
            <a:ext cx="5901439" cy="94496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C6F6745E-14BA-0766-CE1E-32E29663832D}"/>
              </a:ext>
            </a:extLst>
          </p:cNvPr>
          <p:cNvSpPr txBox="1"/>
          <p:nvPr/>
        </p:nvSpPr>
        <p:spPr>
          <a:xfrm>
            <a:off x="804672" y="1188720"/>
            <a:ext cx="10341864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AI agent for chronic disease monitoring </a:t>
            </a:r>
            <a:endParaRPr lang="en-US" sz="2400" b="1" dirty="0" smtClean="0"/>
          </a:p>
          <a:p>
            <a:endParaRPr lang="en-US" sz="2400" b="1" dirty="0" smtClean="0"/>
          </a:p>
          <a:p>
            <a:r>
              <a:rPr lang="en-US" sz="2400" b="1" dirty="0" smtClean="0"/>
              <a:t>The Challenge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/>
              <a:t> </a:t>
            </a:r>
            <a:r>
              <a:rPr lang="en-US" sz="2000" dirty="0" smtClean="0"/>
              <a:t>An </a:t>
            </a:r>
            <a:r>
              <a:rPr lang="en-US" sz="2000" dirty="0" smtClean="0"/>
              <a:t>AI agent for chronic disease monitoring helps patients and healthcare providers manage long-term conditions </a:t>
            </a:r>
            <a:r>
              <a:rPr lang="en-US" sz="2000" dirty="0" smtClean="0"/>
              <a:t>effectively.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000" dirty="0" smtClean="0"/>
              <a:t> </a:t>
            </a:r>
            <a:r>
              <a:rPr lang="en-US" sz="2000" dirty="0" smtClean="0"/>
              <a:t>It </a:t>
            </a:r>
            <a:r>
              <a:rPr lang="en-US" sz="2000" dirty="0" smtClean="0"/>
              <a:t>continuously analyzes health data from </a:t>
            </a:r>
            <a:r>
              <a:rPr lang="en-US" sz="2000" dirty="0" err="1" smtClean="0"/>
              <a:t>wearables</a:t>
            </a:r>
            <a:r>
              <a:rPr lang="en-US" sz="2000" dirty="0" smtClean="0"/>
              <a:t>, medical records, and patient inputs to detect early warning signs. </a:t>
            </a:r>
            <a:endParaRPr lang="en-US" sz="20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000" dirty="0" smtClean="0"/>
              <a:t>Using </a:t>
            </a:r>
            <a:r>
              <a:rPr lang="en-US" sz="2000" dirty="0" smtClean="0"/>
              <a:t>AI and predictive analytics, it offers personalized insights, medication reminders, and lifestyle recommendations. </a:t>
            </a:r>
            <a:endParaRPr lang="en-US" sz="20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000" dirty="0" smtClean="0"/>
              <a:t>The </a:t>
            </a:r>
            <a:r>
              <a:rPr lang="en-US" sz="2000" dirty="0" smtClean="0"/>
              <a:t>agent supports diseases like diabetes, hypertension, and heart conditions with real-time monitoring and alerts. </a:t>
            </a:r>
            <a:endParaRPr lang="en-US" sz="20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000" dirty="0" smtClean="0"/>
              <a:t>It </a:t>
            </a:r>
            <a:r>
              <a:rPr lang="en-US" sz="2000" dirty="0" smtClean="0"/>
              <a:t>enables proactive care, reduces hospital visits, and improves patient adherence to treatment plans. </a:t>
            </a:r>
            <a:endParaRPr lang="en-US" sz="20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000" dirty="0" smtClean="0"/>
              <a:t>This </a:t>
            </a:r>
            <a:r>
              <a:rPr lang="en-US" sz="2000" dirty="0" smtClean="0"/>
              <a:t>intelligent assistant bridges the gap between patients and providers, enhancing chronic care outcomes. 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xmlns="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xmlns="" id="{76B6693F-01D9-DF37-8C49-2DF9328A1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4">
            <a:extLst>
              <a:ext uri="{FF2B5EF4-FFF2-40B4-BE49-F238E27FC236}">
                <a16:creationId xmlns:a16="http://schemas.microsoft.com/office/drawing/2014/main" xmlns="" id="{6900E526-ECD0-DEDB-96C1-30EBE53C0C8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3200" y="639140"/>
            <a:ext cx="5901439" cy="944962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4">
            <a:extLst>
              <a:ext uri="{FF2B5EF4-FFF2-40B4-BE49-F238E27FC236}">
                <a16:creationId xmlns:a16="http://schemas.microsoft.com/office/drawing/2014/main" xmlns="" id="{C00F1F1B-0CAF-371A-DF99-7F5A4E356074}"/>
              </a:ext>
            </a:extLst>
          </p:cNvPr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17253" y="1785946"/>
            <a:ext cx="334739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We are going to use </a:t>
            </a:r>
            <a:r>
              <a:rPr lang="en-US" dirty="0" err="1" smtClean="0"/>
              <a:t>Langflow</a:t>
            </a:r>
            <a:r>
              <a:rPr lang="en-US" dirty="0" smtClean="0"/>
              <a:t> platform 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757765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/>
          <p:nvPr/>
        </p:nvSpPr>
        <p:spPr>
          <a:xfrm>
            <a:off x="537591" y="323239"/>
            <a:ext cx="3587948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Overview</a:t>
            </a:r>
            <a:endParaRPr sz="35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16884E1F-5625-5C8D-C10A-37647B49CC64}"/>
              </a:ext>
            </a:extLst>
          </p:cNvPr>
          <p:cNvSpPr txBox="1"/>
          <p:nvPr/>
        </p:nvSpPr>
        <p:spPr>
          <a:xfrm>
            <a:off x="621792" y="1389888"/>
            <a:ext cx="882396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</a:t>
            </a:r>
          </a:p>
          <a:p>
            <a:endParaRPr lang="en-US" dirty="0" smtClean="0"/>
          </a:p>
          <a:p>
            <a:r>
              <a:rPr lang="en-US" dirty="0" smtClean="0"/>
              <a:t>Build </a:t>
            </a:r>
            <a:r>
              <a:rPr lang="en-US" dirty="0" smtClean="0"/>
              <a:t>an AI agent using </a:t>
            </a:r>
            <a:r>
              <a:rPr lang="en-US" b="1" dirty="0" err="1" smtClean="0"/>
              <a:t>Langflow</a:t>
            </a:r>
            <a:r>
              <a:rPr lang="en-US" dirty="0" smtClean="0"/>
              <a:t> to integrate wearable sensor data, medical records, and patient-reported inputs into a unified monitoring pipeline.</a:t>
            </a:r>
          </a:p>
          <a:p>
            <a:r>
              <a:rPr lang="en-US" dirty="0" smtClean="0"/>
              <a:t>Apply predictive analytics and anomaly detection models to identify early warning signs of chronic disease complications.</a:t>
            </a:r>
          </a:p>
          <a:p>
            <a:r>
              <a:rPr lang="en-US" dirty="0" smtClean="0"/>
              <a:t>Provide real-time alerts, medication reminders, and personalized lifestyle recommendations to patients and healthcare providers.</a:t>
            </a:r>
          </a:p>
          <a:p>
            <a:r>
              <a:rPr lang="en-US" dirty="0" smtClean="0"/>
              <a:t>Enable continuous risk assessment and progress tracking through an interactive conversational interface powered by </a:t>
            </a:r>
            <a:r>
              <a:rPr lang="en-US" dirty="0" err="1" smtClean="0"/>
              <a:t>Langflow</a:t>
            </a:r>
            <a:r>
              <a:rPr lang="en-US" dirty="0" smtClean="0"/>
              <a:t> agents.</a:t>
            </a:r>
          </a:p>
          <a:p>
            <a:r>
              <a:rPr lang="en-US" dirty="0" smtClean="0"/>
              <a:t>Improve patient adherence and reduce healthcare burden through automated insights and seamless communication between care teams and patients.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xmlns="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xmlns="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 err="1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Langflow</a:t>
            </a: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component Used </a:t>
            </a:r>
            <a:endParaRPr sz="35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xmlns="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xmlns="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xmlns="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xmlns="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xmlns="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xmlns="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9BB86949-7ED1-C43B-B1E3-5122BB67A596}"/>
              </a:ext>
            </a:extLst>
          </p:cNvPr>
          <p:cNvSpPr txBox="1"/>
          <p:nvPr/>
        </p:nvSpPr>
        <p:spPr>
          <a:xfrm>
            <a:off x="621792" y="1389888"/>
            <a:ext cx="882396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Explain the use of each </a:t>
            </a:r>
            <a:r>
              <a:rPr lang="en-US" dirty="0" err="1"/>
              <a:t>langflow</a:t>
            </a:r>
            <a:r>
              <a:rPr lang="en-US" dirty="0"/>
              <a:t> component  used into you project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1)Chat Input – </a:t>
            </a:r>
            <a:r>
              <a:rPr lang="en-US" dirty="0" smtClean="0"/>
              <a:t> I am Chronic Disease Agent. Ask me any question about </a:t>
            </a:r>
            <a:r>
              <a:rPr lang="en-US" dirty="0" err="1" smtClean="0"/>
              <a:t>HighBP</a:t>
            </a:r>
            <a:r>
              <a:rPr lang="en-US" dirty="0" smtClean="0"/>
              <a:t> , Sugar or any Chronic Disease?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2) IBM </a:t>
            </a:r>
            <a:r>
              <a:rPr lang="en-US" dirty="0" err="1"/>
              <a:t>watsonx</a:t>
            </a:r>
            <a:r>
              <a:rPr lang="en-US" dirty="0"/>
              <a:t> AI Agent</a:t>
            </a:r>
          </a:p>
          <a:p>
            <a:endParaRPr lang="en-US" dirty="0"/>
          </a:p>
          <a:p>
            <a:pPr marL="342900" indent="-342900">
              <a:buAutoNum type="arabicParenR" startAt="3"/>
            </a:pPr>
            <a:r>
              <a:rPr lang="en-US" dirty="0"/>
              <a:t>File </a:t>
            </a:r>
            <a:r>
              <a:rPr lang="en-US" dirty="0" smtClean="0"/>
              <a:t>component : A </a:t>
            </a:r>
            <a:r>
              <a:rPr lang="en-US" dirty="0" err="1" smtClean="0"/>
              <a:t>pdf</a:t>
            </a:r>
            <a:r>
              <a:rPr lang="en-US" dirty="0" smtClean="0"/>
              <a:t> on Chronic Diseases “Diabetes and Hypertension”</a:t>
            </a:r>
            <a:endParaRPr lang="en-US" dirty="0"/>
          </a:p>
          <a:p>
            <a:pPr marL="342900" indent="-342900">
              <a:buAutoNum type="arabicParenR" startAt="3"/>
            </a:pPr>
            <a:endParaRPr lang="en-US" dirty="0"/>
          </a:p>
          <a:p>
            <a:pPr marL="342900" indent="-342900">
              <a:buAutoNum type="arabicParenR" startAt="3"/>
            </a:pPr>
            <a:r>
              <a:rPr lang="en-US" dirty="0"/>
              <a:t>Chat output </a:t>
            </a:r>
          </a:p>
          <a:p>
            <a:pPr marL="342900" indent="-342900">
              <a:buAutoNum type="arabicParenR" startAt="3"/>
            </a:pPr>
            <a:endParaRPr lang="en-US" dirty="0"/>
          </a:p>
          <a:p>
            <a:pPr marL="342900" indent="-342900">
              <a:buAutoNum type="arabicParenR" startAt="3"/>
            </a:pPr>
            <a:r>
              <a:rPr lang="en-US" dirty="0"/>
              <a:t>Add name of any other component used.</a:t>
            </a:r>
          </a:p>
          <a:p>
            <a:pPr marL="342900" indent="-342900">
              <a:buAutoNum type="arabicParenR" startAt="3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28526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xmlns="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">
            <a:extLst>
              <a:ext uri="{FF2B5EF4-FFF2-40B4-BE49-F238E27FC236}">
                <a16:creationId xmlns:a16="http://schemas.microsoft.com/office/drawing/2014/main" xmlns="" id="{B44D301C-393F-354F-3E88-518CAEB33CE6}"/>
              </a:ext>
            </a:extLst>
          </p:cNvPr>
          <p:cNvSpPr txBox="1"/>
          <p:nvPr/>
        </p:nvSpPr>
        <p:spPr>
          <a:xfrm>
            <a:off x="1992086" y="662974"/>
            <a:ext cx="820782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Workflow </a:t>
            </a:r>
            <a:endParaRPr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18444" y="1020956"/>
            <a:ext cx="9503436" cy="54955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2772501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"/>
          <p:cNvSpPr txBox="1"/>
          <p:nvPr/>
        </p:nvSpPr>
        <p:spPr>
          <a:xfrm>
            <a:off x="1992086" y="662974"/>
            <a:ext cx="820782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</a:t>
            </a:r>
            <a:endParaRPr/>
          </a:p>
        </p:txBody>
      </p:sp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22375" y="1782763"/>
            <a:ext cx="9745663" cy="329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Role of Agentic AI  in your solution </a:t>
            </a:r>
            <a:endParaRPr lang="en-IN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322462E8-EB3A-DA7D-44CB-4E757803A755}"/>
              </a:ext>
            </a:extLst>
          </p:cNvPr>
          <p:cNvSpPr txBox="1"/>
          <p:nvPr/>
        </p:nvSpPr>
        <p:spPr>
          <a:xfrm>
            <a:off x="804672" y="1389888"/>
            <a:ext cx="68854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Explain how Agentic AI help to find solution of the problem</a:t>
            </a:r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xmlns="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Technology Used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/>
              <a:t>Langflow</a:t>
            </a:r>
            <a:r>
              <a:rPr lang="en-US" sz="1800" dirty="0"/>
              <a:t> platform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/>
              <a:t>Langflow</a:t>
            </a:r>
            <a:r>
              <a:rPr lang="en-US" sz="1800" dirty="0"/>
              <a:t> component name –  </a:t>
            </a:r>
            <a:r>
              <a:rPr lang="en-US" sz="1800" dirty="0" smtClean="0"/>
              <a:t>Document Q&amp;A  </a:t>
            </a:r>
            <a:r>
              <a:rPr lang="en-US" sz="1800" dirty="0"/>
              <a:t>, Chat input , Chat output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smtClean="0"/>
              <a:t>RAG 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764405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/>
          <p:cNvSpPr/>
          <p:nvPr/>
        </p:nvSpPr>
        <p:spPr>
          <a:xfrm>
            <a:off x="1218724" y="475593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Novelty and Uniqueness</a:t>
            </a:r>
            <a:endParaRPr sz="35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18"/>
          <p:cNvSpPr/>
          <p:nvPr/>
        </p:nvSpPr>
        <p:spPr>
          <a:xfrm>
            <a:off x="1218724" y="2324967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First platform merging micro‑climate sensing, </a:t>
            </a:r>
            <a:r>
              <a:rPr lang="en-US" sz="1850" b="0" i="0" u="none" strike="noStrike" cap="none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GenAI</a:t>
            </a: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policy</a:t>
            </a:r>
            <a:endParaRPr dirty="0"/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retrieval for urban adaptation.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/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Uses non‑wearable, rooftop nodes—cheaper and easier to deploy</a:t>
            </a:r>
            <a:endParaRPr dirty="0"/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city‑wide.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/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Granite‑guarded outputs ensure bias‑free, regulation‑compliant</a:t>
            </a:r>
            <a:endParaRPr dirty="0"/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advice.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/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5‑second loop from sensor trigger to official alert.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xmlns="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xmlns="" id="{D62F03A8-A8A8-CB93-006E-7173DC866F6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 Hub Link</a:t>
            </a:r>
            <a:endParaRPr sz="35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xmlns="" id="{15507A2F-9304-7475-5C74-2BAA93879CFE}"/>
              </a:ext>
            </a:extLst>
          </p:cNvPr>
          <p:cNvSpPr/>
          <p:nvPr/>
        </p:nvSpPr>
        <p:spPr>
          <a:xfrm>
            <a:off x="1282732" y="1393947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245325" y="1443093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https://github.com/aniket13thakur/fdp_rag_based_ai_agent_for_chronic_disease_monitoring.git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1154848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xmlns="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xmlns="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 Screen shots </a:t>
            </a:r>
            <a:endParaRPr sz="35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xmlns="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xmlns="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xmlns="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315686" y="4015231"/>
            <a:ext cx="4712986" cy="2333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271893" y="990954"/>
            <a:ext cx="4780516" cy="27079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57423" y="2012187"/>
            <a:ext cx="5512782" cy="27257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2136706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xmlns="" id="{99D00344-5B67-433B-BF41-6FF605545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xmlns="" id="{8850A1AD-54DA-E0D2-BBDE-6FC982EA42E9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Scope </a:t>
            </a:r>
            <a:endParaRPr sz="35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xmlns="" id="{A572CE73-33D8-C86E-0D7B-90085D725DFF}"/>
              </a:ext>
            </a:extLst>
          </p:cNvPr>
          <p:cNvSpPr/>
          <p:nvPr/>
        </p:nvSpPr>
        <p:spPr>
          <a:xfrm>
            <a:off x="1282732" y="1393947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 smtClean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·We can add a </a:t>
            </a:r>
            <a:r>
              <a:rPr lang="en-US" sz="1850" b="0" i="0" u="none" strike="noStrike" cap="none" dirty="0" err="1" smtClean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chatbot</a:t>
            </a:r>
            <a:r>
              <a:rPr lang="en-US" sz="1850" b="0" i="0" u="none" strike="noStrike" cap="none" dirty="0" smtClean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that can support patient to solve their queries</a:t>
            </a: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xmlns="" id="{DC7EF47D-7F96-CB94-7A7E-634F995E6896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xmlns="" id="{99BD3EB2-ACA1-57C7-B634-3508C2F0B2B1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xmlns="" id="{FB44C2E7-B485-4CCE-000F-CAE545A8C4FD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259472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xmlns="" id="{3B608835-6660-106E-C036-AF9BDEC4C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xmlns="" id="{AF3E0981-204F-0F82-68DE-3C048E0E1D65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 </a:t>
            </a:r>
            <a:endParaRPr sz="35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xmlns="" id="{1715285A-657A-622C-0C9C-CA8064B351DB}"/>
              </a:ext>
            </a:extLst>
          </p:cNvPr>
          <p:cNvSpPr/>
          <p:nvPr/>
        </p:nvSpPr>
        <p:spPr>
          <a:xfrm>
            <a:off x="1282732" y="1393947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162"/>
              </a:lnSpc>
              <a:buClr>
                <a:srgbClr val="2B3541"/>
              </a:buClr>
              <a:buSzPts val="1850"/>
              <a:buFont typeface="Arial" pitchFamily="34" charset="0"/>
              <a:buChar char="•"/>
            </a:pPr>
            <a:r>
              <a:rPr lang="en-IN" sz="1850" dirty="0" smtClean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1850" dirty="0" smtClean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</a:t>
            </a:r>
            <a:r>
              <a:rPr lang="en-IN" sz="1850" dirty="0" smtClean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sop.washington.edu/wp-content/uploads/Chronic_Disease.pdf</a:t>
            </a:r>
            <a:endParaRPr lang="en-IN" sz="1850" dirty="0" smtClean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  <a:buFont typeface="Arial" pitchFamily="34" charset="0"/>
              <a:buChar char="•"/>
            </a:pPr>
            <a:r>
              <a:rPr lang="en-US" sz="1850" dirty="0" smtClean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https://</a:t>
            </a:r>
            <a:r>
              <a:rPr lang="en-US" sz="1850" dirty="0" smtClean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cinj.org/sites/cinj/files/documents/NutritionandChronicDisease_072612.pdf</a:t>
            </a:r>
            <a:endParaRPr lang="en-US" sz="1850" dirty="0" smtClean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  <a:buFont typeface="Arial" pitchFamily="34" charset="0"/>
              <a:buChar char="•"/>
            </a:pP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xmlns="" id="{5A186675-F31E-CD40-8E19-670659BF6643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xmlns="" id="{13D49CEA-78B6-DF59-D188-73BE686976A0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xmlns="" id="{22FE179E-F549-C04D-AA8D-D23281E1CE63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379961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1213</TotalTime>
  <Words>472</Words>
  <Application>Microsoft Office PowerPoint</Application>
  <PresentationFormat>Custom</PresentationFormat>
  <Paragraphs>95</Paragraphs>
  <Slides>16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FDP on Agentic AI: Foundations, Applications, and Future Directions 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Sipna Coet</cp:lastModifiedBy>
  <cp:revision>32</cp:revision>
  <dcterms:created xsi:type="dcterms:W3CDTF">2025-07-08T05:06:56Z</dcterms:created>
  <dcterms:modified xsi:type="dcterms:W3CDTF">2025-11-20T10:18:47Z</dcterms:modified>
</cp:coreProperties>
</file>